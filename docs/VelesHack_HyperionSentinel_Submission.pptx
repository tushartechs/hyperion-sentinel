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</p:sldIdLst>
  <p:sldSz cy="5143500" cx="9144000"/>
  <p:notesSz cx="6858000" cy="9144000"/>
  <p:embeddedFontLst>
    <p:embeddedFont>
      <p:font typeface="Roboto"/>
      <p:regular r:id="rId10"/>
      <p:bold r:id="rId11"/>
      <p:italic r:id="rId12"/>
      <p:boldItalic r:id="rId13"/>
    </p:embeddedFont>
    <p:embeddedFont>
      <p:font typeface="Roboto Medium"/>
      <p:regular r:id="rId14"/>
      <p:bold r:id="rId15"/>
      <p:italic r:id="rId16"/>
      <p:boldItalic r:id="rId1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:go="http://customooxmlschemas.google.com/" r:id="rId18" roundtripDataSignature="AMtx7mjpBOD1wnFu5Ox5hv3wUcSwmDxwU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Roboto-bold.fntdata"/><Relationship Id="rId10" Type="http://schemas.openxmlformats.org/officeDocument/2006/relationships/font" Target="fonts/Roboto-regular.fntdata"/><Relationship Id="rId13" Type="http://schemas.openxmlformats.org/officeDocument/2006/relationships/font" Target="fonts/Roboto-boldItalic.fntdata"/><Relationship Id="rId12" Type="http://schemas.openxmlformats.org/officeDocument/2006/relationships/font" Target="fonts/Roboto-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RobotoMedium-bold.fntdata"/><Relationship Id="rId14" Type="http://schemas.openxmlformats.org/officeDocument/2006/relationships/font" Target="fonts/RobotoMedium-regular.fntdata"/><Relationship Id="rId17" Type="http://schemas.openxmlformats.org/officeDocument/2006/relationships/font" Target="fonts/RobotoMedium-boldItalic.fntdata"/><Relationship Id="rId16" Type="http://schemas.openxmlformats.org/officeDocument/2006/relationships/font" Target="fonts/RobotoMedium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18" Type="http://customschemas.google.com/relationships/presentationmetadata" Target="meta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" name="Google Shape;43;p1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" name="Google Shape;49;p2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h2296137532f5af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h2296137532f5afa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h2296137532f5afa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h2296137532f5afa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g"/><Relationship Id="rId3" Type="http://schemas.openxmlformats.org/officeDocument/2006/relationships/image" Target="../media/image3.png"/><Relationship Id="rId4" Type="http://schemas.openxmlformats.org/officeDocument/2006/relationships/image" Target="../media/image8.png"/><Relationship Id="rId5" Type="http://schemas.openxmlformats.org/officeDocument/2006/relationships/image" Target="../media/image2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6.png"/><Relationship Id="rId4" Type="http://schemas.openxmlformats.org/officeDocument/2006/relationships/image" Target="../media/image3.png"/><Relationship Id="rId5" Type="http://schemas.openxmlformats.org/officeDocument/2006/relationships/image" Target="../media/image7.png"/><Relationship Id="rId6" Type="http://schemas.openxmlformats.org/officeDocument/2006/relationships/image" Target="../media/image1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9.png"/><Relationship Id="rId4" Type="http://schemas.openxmlformats.org/officeDocument/2006/relationships/image" Target="../media/image6.png"/><Relationship Id="rId5" Type="http://schemas.openxmlformats.org/officeDocument/2006/relationships/image" Target="../media/image3.png"/><Relationship Id="rId6" Type="http://schemas.openxmlformats.org/officeDocument/2006/relationships/image" Target="../media/image1.png"/><Relationship Id="rId7" Type="http://schemas.openxmlformats.org/officeDocument/2006/relationships/image" Target="../media/image7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g"/><Relationship Id="rId3" Type="http://schemas.openxmlformats.org/officeDocument/2006/relationships/image" Target="../media/image3.png"/><Relationship Id="rId4" Type="http://schemas.openxmlformats.org/officeDocument/2006/relationships/image" Target="../media/image8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15" y="0"/>
            <a:ext cx="9155849" cy="5151422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6"/>
          <p:cNvSpPr txBox="1"/>
          <p:nvPr>
            <p:ph type="title"/>
          </p:nvPr>
        </p:nvSpPr>
        <p:spPr>
          <a:xfrm>
            <a:off x="464100" y="3098125"/>
            <a:ext cx="6988200" cy="91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None/>
              <a:defRPr sz="4000">
                <a:solidFill>
                  <a:srgbClr val="FFFFFF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2" name="Google Shape;12;p6"/>
          <p:cNvSpPr txBox="1"/>
          <p:nvPr>
            <p:ph idx="1" type="subTitle"/>
          </p:nvPr>
        </p:nvSpPr>
        <p:spPr>
          <a:xfrm>
            <a:off x="464100" y="3794075"/>
            <a:ext cx="75165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F7C14"/>
              </a:buClr>
              <a:buSzPts val="2500"/>
              <a:buFont typeface="Roboto Medium"/>
              <a:buNone/>
              <a:defRPr sz="2500">
                <a:solidFill>
                  <a:schemeClr val="lt1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F7C14"/>
              </a:buClr>
              <a:buSzPts val="1400"/>
              <a:buNone/>
              <a:defRPr>
                <a:solidFill>
                  <a:srgbClr val="EF7C14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F7C14"/>
              </a:buClr>
              <a:buSzPts val="1400"/>
              <a:buNone/>
              <a:defRPr>
                <a:solidFill>
                  <a:srgbClr val="EF7C14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F7C14"/>
              </a:buClr>
              <a:buSzPts val="1400"/>
              <a:buNone/>
              <a:defRPr>
                <a:solidFill>
                  <a:srgbClr val="EF7C14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F7C14"/>
              </a:buClr>
              <a:buSzPts val="1400"/>
              <a:buNone/>
              <a:defRPr>
                <a:solidFill>
                  <a:srgbClr val="EF7C14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F7C14"/>
              </a:buClr>
              <a:buSzPts val="1400"/>
              <a:buNone/>
              <a:defRPr>
                <a:solidFill>
                  <a:srgbClr val="EF7C14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F7C14"/>
              </a:buClr>
              <a:buSzPts val="1400"/>
              <a:buNone/>
              <a:defRPr>
                <a:solidFill>
                  <a:srgbClr val="EF7C14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F7C14"/>
              </a:buClr>
              <a:buSzPts val="1400"/>
              <a:buNone/>
              <a:defRPr>
                <a:solidFill>
                  <a:srgbClr val="EF7C14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F7C14"/>
              </a:buClr>
              <a:buSzPts val="1400"/>
              <a:buNone/>
              <a:defRPr>
                <a:solidFill>
                  <a:srgbClr val="EF7C14"/>
                </a:solidFill>
              </a:defRPr>
            </a:lvl9pPr>
          </a:lstStyle>
          <a:p/>
        </p:txBody>
      </p:sp>
      <p:pic>
        <p:nvPicPr>
          <p:cNvPr id="13" name="Google Shape;13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657348" y="1505461"/>
            <a:ext cx="2272593" cy="189804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Google Shape;14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657348" y="187745"/>
            <a:ext cx="2063598" cy="129545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15;p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595858" y="4726170"/>
            <a:ext cx="1407814" cy="3128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boto"/>
              <a:buNone/>
              <a:defRPr b="1" i="0" sz="2400" u="none" cap="none" strike="noStrike">
                <a:solidFill>
                  <a:srgbClr val="25346A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boto"/>
              <a:buNone/>
              <a:defRPr b="1" sz="2400">
                <a:latin typeface="Roboto"/>
                <a:ea typeface="Roboto"/>
                <a:cs typeface="Roboto"/>
                <a:sym typeface="Roboto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boto"/>
              <a:buNone/>
              <a:defRPr b="1" sz="2400">
                <a:latin typeface="Roboto"/>
                <a:ea typeface="Roboto"/>
                <a:cs typeface="Roboto"/>
                <a:sym typeface="Roboto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boto"/>
              <a:buNone/>
              <a:defRPr b="1" sz="2400">
                <a:latin typeface="Roboto"/>
                <a:ea typeface="Roboto"/>
                <a:cs typeface="Roboto"/>
                <a:sym typeface="Roboto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boto"/>
              <a:buNone/>
              <a:defRPr b="1" sz="2400">
                <a:latin typeface="Roboto"/>
                <a:ea typeface="Roboto"/>
                <a:cs typeface="Roboto"/>
                <a:sym typeface="Roboto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boto"/>
              <a:buNone/>
              <a:defRPr b="1" sz="2400">
                <a:latin typeface="Roboto"/>
                <a:ea typeface="Roboto"/>
                <a:cs typeface="Roboto"/>
                <a:sym typeface="Roboto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boto"/>
              <a:buNone/>
              <a:defRPr b="1" sz="2400">
                <a:latin typeface="Roboto"/>
                <a:ea typeface="Roboto"/>
                <a:cs typeface="Roboto"/>
                <a:sym typeface="Roboto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boto"/>
              <a:buNone/>
              <a:defRPr b="1" sz="2400">
                <a:latin typeface="Roboto"/>
                <a:ea typeface="Roboto"/>
                <a:cs typeface="Roboto"/>
                <a:sym typeface="Roboto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boto"/>
              <a:buNone/>
              <a:defRPr b="1" sz="2400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8" name="Google Shape;18;p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●"/>
              <a:defRPr sz="1400"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pic>
        <p:nvPicPr>
          <p:cNvPr id="19" name="Google Shape;19;p7"/>
          <p:cNvPicPr preferRelativeResize="0"/>
          <p:nvPr/>
        </p:nvPicPr>
        <p:blipFill rotWithShape="1">
          <a:blip r:embed="rId2">
            <a:alphaModFix/>
          </a:blip>
          <a:srcRect b="0" l="53583" r="0" t="0"/>
          <a:stretch/>
        </p:blipFill>
        <p:spPr>
          <a:xfrm>
            <a:off x="0" y="394226"/>
            <a:ext cx="311700" cy="674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" name="Google Shape;20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4749797"/>
            <a:ext cx="9144000" cy="393600"/>
          </a:xfrm>
          <a:prstGeom prst="rect">
            <a:avLst/>
          </a:prstGeom>
          <a:noFill/>
          <a:ln>
            <a:noFill/>
          </a:ln>
        </p:spPr>
      </p:pic>
      <p:sp>
        <p:nvSpPr>
          <p:cNvPr id="21" name="Google Shape;21;p7"/>
          <p:cNvSpPr txBox="1"/>
          <p:nvPr>
            <p:ph idx="12" type="sldNum"/>
          </p:nvPr>
        </p:nvSpPr>
        <p:spPr>
          <a:xfrm>
            <a:off x="8472458" y="4789959"/>
            <a:ext cx="548700" cy="316192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2" name="Google Shape;22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905989" y="4827865"/>
            <a:ext cx="3332021" cy="278286"/>
          </a:xfrm>
          <a:prstGeom prst="rect">
            <a:avLst/>
          </a:prstGeom>
          <a:noFill/>
          <a:ln>
            <a:noFill/>
          </a:ln>
        </p:spPr>
      </p:pic>
      <p:pic>
        <p:nvPicPr>
          <p:cNvPr id="23" name="Google Shape;23;p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11700" y="4771154"/>
            <a:ext cx="584516" cy="345986"/>
          </a:xfrm>
          <a:prstGeom prst="rect">
            <a:avLst/>
          </a:prstGeom>
          <a:noFill/>
          <a:ln>
            <a:noFill/>
          </a:ln>
        </p:spPr>
      </p:pic>
      <p:pic>
        <p:nvPicPr>
          <p:cNvPr id="24" name="Google Shape;24;p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026412" y="4790989"/>
            <a:ext cx="1446045" cy="32134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Google Shape;26;p8"/>
          <p:cNvPicPr preferRelativeResize="0"/>
          <p:nvPr/>
        </p:nvPicPr>
        <p:blipFill rotWithShape="1">
          <a:blip r:embed="rId2">
            <a:alphaModFix amt="11000"/>
          </a:blip>
          <a:srcRect b="0" l="0" r="0" t="0"/>
          <a:stretch/>
        </p:blipFill>
        <p:spPr>
          <a:xfrm rot="-5400000">
            <a:off x="2158615" y="-2137275"/>
            <a:ext cx="868970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27" name="Google Shape;27;p8"/>
          <p:cNvPicPr preferRelativeResize="0"/>
          <p:nvPr/>
        </p:nvPicPr>
        <p:blipFill rotWithShape="1">
          <a:blip r:embed="rId2">
            <a:alphaModFix amt="11000"/>
          </a:blip>
          <a:srcRect b="4935" l="0" r="0" t="17694"/>
          <a:stretch/>
        </p:blipFill>
        <p:spPr>
          <a:xfrm rot="-5400000">
            <a:off x="6719951" y="-1555100"/>
            <a:ext cx="868950" cy="3979151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28;p8"/>
          <p:cNvSpPr/>
          <p:nvPr/>
        </p:nvSpPr>
        <p:spPr>
          <a:xfrm rot="5400000">
            <a:off x="4113300" y="-4111500"/>
            <a:ext cx="917400" cy="9140400"/>
          </a:xfrm>
          <a:prstGeom prst="rect">
            <a:avLst/>
          </a:prstGeom>
          <a:gradFill>
            <a:gsLst>
              <a:gs pos="0">
                <a:schemeClr val="lt1"/>
              </a:gs>
              <a:gs pos="100000">
                <a:srgbClr val="FFFFFF">
                  <a:alpha val="0"/>
                </a:srgbClr>
              </a:gs>
            </a:gsLst>
            <a:lin ang="10800025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" name="Google Shape;29;p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5346A"/>
              </a:buClr>
              <a:buSzPts val="2400"/>
              <a:buFont typeface="Roboto"/>
              <a:buNone/>
              <a:defRPr b="1" sz="2400">
                <a:solidFill>
                  <a:srgbClr val="25346A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boto"/>
              <a:buNone/>
              <a:defRPr b="1" sz="2400">
                <a:latin typeface="Roboto"/>
                <a:ea typeface="Roboto"/>
                <a:cs typeface="Roboto"/>
                <a:sym typeface="Roboto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boto"/>
              <a:buNone/>
              <a:defRPr b="1" sz="2400">
                <a:latin typeface="Roboto"/>
                <a:ea typeface="Roboto"/>
                <a:cs typeface="Roboto"/>
                <a:sym typeface="Roboto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boto"/>
              <a:buNone/>
              <a:defRPr b="1" sz="2400">
                <a:latin typeface="Roboto"/>
                <a:ea typeface="Roboto"/>
                <a:cs typeface="Roboto"/>
                <a:sym typeface="Roboto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boto"/>
              <a:buNone/>
              <a:defRPr b="1" sz="2400">
                <a:latin typeface="Roboto"/>
                <a:ea typeface="Roboto"/>
                <a:cs typeface="Roboto"/>
                <a:sym typeface="Roboto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boto"/>
              <a:buNone/>
              <a:defRPr b="1" sz="2400">
                <a:latin typeface="Roboto"/>
                <a:ea typeface="Roboto"/>
                <a:cs typeface="Roboto"/>
                <a:sym typeface="Roboto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boto"/>
              <a:buNone/>
              <a:defRPr b="1" sz="2400">
                <a:latin typeface="Roboto"/>
                <a:ea typeface="Roboto"/>
                <a:cs typeface="Roboto"/>
                <a:sym typeface="Roboto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boto"/>
              <a:buNone/>
              <a:defRPr b="1" sz="2400">
                <a:latin typeface="Roboto"/>
                <a:ea typeface="Roboto"/>
                <a:cs typeface="Roboto"/>
                <a:sym typeface="Roboto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boto"/>
              <a:buNone/>
              <a:defRPr b="1" sz="2400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pic>
        <p:nvPicPr>
          <p:cNvPr id="30" name="Google Shape;30;p8"/>
          <p:cNvPicPr preferRelativeResize="0"/>
          <p:nvPr/>
        </p:nvPicPr>
        <p:blipFill rotWithShape="1">
          <a:blip r:embed="rId3">
            <a:alphaModFix/>
          </a:blip>
          <a:srcRect b="0" l="53583" r="0" t="0"/>
          <a:stretch/>
        </p:blipFill>
        <p:spPr>
          <a:xfrm>
            <a:off x="0" y="394226"/>
            <a:ext cx="311700" cy="674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" name="Google Shape;31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4749797"/>
            <a:ext cx="9144000" cy="393600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8"/>
          <p:cNvSpPr txBox="1"/>
          <p:nvPr>
            <p:ph idx="12" type="sldNum"/>
          </p:nvPr>
        </p:nvSpPr>
        <p:spPr>
          <a:xfrm>
            <a:off x="8472458" y="4789959"/>
            <a:ext cx="548700" cy="316192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33" name="Google Shape;33;p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905989" y="4827865"/>
            <a:ext cx="3332021" cy="278286"/>
          </a:xfrm>
          <a:prstGeom prst="rect">
            <a:avLst/>
          </a:prstGeom>
          <a:noFill/>
          <a:ln>
            <a:noFill/>
          </a:ln>
        </p:spPr>
      </p:pic>
      <p:pic>
        <p:nvPicPr>
          <p:cNvPr id="34" name="Google Shape;34;p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026412" y="4790989"/>
            <a:ext cx="1446045" cy="321343"/>
          </a:xfrm>
          <a:prstGeom prst="rect">
            <a:avLst/>
          </a:prstGeom>
          <a:noFill/>
          <a:ln>
            <a:noFill/>
          </a:ln>
        </p:spPr>
      </p:pic>
      <p:pic>
        <p:nvPicPr>
          <p:cNvPr id="35" name="Google Shape;35;p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11700" y="4771154"/>
            <a:ext cx="584516" cy="34598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1">
  <p:cSld name="BLANK_1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" name="Google Shape;37;p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15" y="0"/>
            <a:ext cx="9155849" cy="5151422"/>
          </a:xfrm>
          <a:prstGeom prst="rect">
            <a:avLst/>
          </a:prstGeom>
          <a:noFill/>
          <a:ln>
            <a:noFill/>
          </a:ln>
        </p:spPr>
      </p:pic>
      <p:pic>
        <p:nvPicPr>
          <p:cNvPr id="38" name="Google Shape;38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657348" y="1505461"/>
            <a:ext cx="2272593" cy="189804"/>
          </a:xfrm>
          <a:prstGeom prst="rect">
            <a:avLst/>
          </a:prstGeom>
          <a:noFill/>
          <a:ln>
            <a:noFill/>
          </a:ln>
        </p:spPr>
      </p:pic>
      <p:pic>
        <p:nvPicPr>
          <p:cNvPr id="39" name="Google Shape;39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657348" y="187745"/>
            <a:ext cx="2063598" cy="1295458"/>
          </a:xfrm>
          <a:prstGeom prst="rect">
            <a:avLst/>
          </a:prstGeom>
          <a:noFill/>
          <a:ln>
            <a:noFill/>
          </a:ln>
        </p:spPr>
      </p:pic>
      <p:sp>
        <p:nvSpPr>
          <p:cNvPr id="40" name="Google Shape;40;p9"/>
          <p:cNvSpPr txBox="1"/>
          <p:nvPr>
            <p:ph type="title"/>
          </p:nvPr>
        </p:nvSpPr>
        <p:spPr>
          <a:xfrm>
            <a:off x="0" y="2220966"/>
            <a:ext cx="9142200" cy="1243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9725"/>
              </a:buClr>
              <a:buSzPts val="5000"/>
              <a:buNone/>
              <a:defRPr sz="50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9725"/>
              </a:buClr>
              <a:buSzPts val="2800"/>
              <a:buNone/>
              <a:defRPr>
                <a:solidFill>
                  <a:srgbClr val="F39725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9725"/>
              </a:buClr>
              <a:buSzPts val="2800"/>
              <a:buNone/>
              <a:defRPr>
                <a:solidFill>
                  <a:srgbClr val="F39725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9725"/>
              </a:buClr>
              <a:buSzPts val="2800"/>
              <a:buNone/>
              <a:defRPr>
                <a:solidFill>
                  <a:srgbClr val="F39725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9725"/>
              </a:buClr>
              <a:buSzPts val="2800"/>
              <a:buNone/>
              <a:defRPr>
                <a:solidFill>
                  <a:srgbClr val="F39725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9725"/>
              </a:buClr>
              <a:buSzPts val="2800"/>
              <a:buNone/>
              <a:defRPr>
                <a:solidFill>
                  <a:srgbClr val="F39725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9725"/>
              </a:buClr>
              <a:buSzPts val="2800"/>
              <a:buNone/>
              <a:defRPr>
                <a:solidFill>
                  <a:srgbClr val="F39725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9725"/>
              </a:buClr>
              <a:buSzPts val="2800"/>
              <a:buNone/>
              <a:defRPr>
                <a:solidFill>
                  <a:srgbClr val="F39725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9725"/>
              </a:buClr>
              <a:buSzPts val="2800"/>
              <a:buNone/>
              <a:defRPr>
                <a:solidFill>
                  <a:srgbClr val="F39725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b="1" i="0" sz="2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b="1" i="0" sz="2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b="1" i="0" sz="2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b="1" i="0" sz="2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b="1" i="0" sz="2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b="1" i="0" sz="2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b="1" i="0" sz="2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b="1" i="0" sz="2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b="1" i="0" sz="2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7" name="Google Shape;7;p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●"/>
              <a:defRPr b="0" i="0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 b="0" i="0" sz="14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 b="0" i="0" sz="14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  <a:defRPr b="0" i="0" sz="14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 b="0" i="0" sz="14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 b="0" i="0" sz="14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  <a:defRPr b="0" i="0" sz="14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 b="0" i="0" sz="14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 b="0" i="0" sz="14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20" Type="http://schemas.openxmlformats.org/officeDocument/2006/relationships/hyperlink" Target="https://github.com/TusharTechs/hyperion-sentinel" TargetMode="External"/><Relationship Id="rId21" Type="http://schemas.openxmlformats.org/officeDocument/2006/relationships/hyperlink" Target="https://youtu.be/ZP7SHtDgncU" TargetMode="External"/><Relationship Id="rId22" Type="http://schemas.openxmlformats.org/officeDocument/2006/relationships/hyperlink" Target="https://hub.docker.com/r/tushartechs/hyperion" TargetMode="External"/><Relationship Id="rId23" Type="http://schemas.openxmlformats.org/officeDocument/2006/relationships/image" Target="../media/hs_links.png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20" Type="http://schemas.openxmlformats.org/officeDocument/2006/relationships/image" Target="../media/hs_flow.png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20" Type="http://schemas.openxmlformats.org/officeDocument/2006/relationships/image" Target="../media/hs_stats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"/>
          <p:cNvSpPr txBox="1"/>
          <p:nvPr>
            <p:ph type="title"/>
          </p:nvPr>
        </p:nvSpPr>
        <p:spPr>
          <a:xfrm>
            <a:off x="464100" y="3098125"/>
            <a:ext cx="6988200" cy="91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None/>
            </a:pPr>
            <a:r>
              <a:rPr lang="en"/>
              <a:t>Hyperion Sentinel</a:t>
            </a:r>
            <a:endParaRPr/>
          </a:p>
        </p:txBody>
      </p:sp>
      <p:sp>
        <p:nvSpPr>
          <p:cNvPr id="46" name="Google Shape;46;p1"/>
          <p:cNvSpPr txBox="1"/>
          <p:nvPr>
            <p:ph idx="1" type="subTitle"/>
          </p:nvPr>
        </p:nvSpPr>
        <p:spPr>
          <a:xfrm>
            <a:off x="464100" y="3794075"/>
            <a:ext cx="8100000" cy="1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/>
              <a:t>The edge-readiness engineer inside the HYPER-AI IDE</a:t>
            </a: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lt1"/>
                </a:solidFill>
              </a:rPr>
              <a:t>Veles Hack 2026  |  Challenge 1: Hyperion, an LLM-powered agentic assistant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boto"/>
              <a:buNone/>
            </a:pPr>
            <a:r>
              <a:rPr lang="en"/>
              <a:t>GitHub repo</a:t>
            </a:r>
            <a:endParaRPr/>
          </a:p>
        </p:txBody>
      </p:sp>
      <p:sp>
        <p:nvSpPr>
          <p:cNvPr id="52" name="Google Shape;52;p2"/>
          <p:cNvSpPr txBox="1"/>
          <p:nvPr>
            <p:ph idx="1" type="body"/>
          </p:nvPr>
        </p:nvSpPr>
        <p:spPr>
          <a:xfrm>
            <a:off x="311700" y="1152475"/>
            <a:ext cx="8520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  <a:buSzPts val="1400"/>
              <a:buChar char="●"/>
            </a:pPr>
            <a:r>
              <a:rPr lang="en" b="1"/>
              <a:t>GitHub repo: </a:t>
            </a:r>
            <a:r>
              <a:rPr lang="en">
                <a:hlinkClick r:id="rId20"/>
              </a:rPr>
              <a:t>https://github.com/TusharTechs/hyperion-sentinel</a:t>
            </a:r>
            <a:endParaRPr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  <a:buSzPts val="1400"/>
              <a:buChar char="●"/>
            </a:pPr>
            <a:r>
              <a:rPr lang="en" b="1"/>
              <a:t>Docker image: </a:t>
            </a:r>
            <a:r>
              <a:rPr lang="en">
                <a:hlinkClick r:id="rId22"/>
              </a:rPr>
              <a:t>https://hub.docker.com/r/tushartechs/hyperion</a:t>
            </a:r>
            <a:endParaRPr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  <a:buSzPts val="1400"/>
              <a:buChar char="●"/>
            </a:pPr>
            <a:r>
              <a:rPr lang="en" b="1"/>
              <a:t>Demo video (2 min, recorded live in the real IDE): </a:t>
            </a:r>
            <a:r>
              <a:rPr lang="en">
                <a:hlinkClick r:id="rId21"/>
              </a:rPr>
              <a:t>https://youtu.be/ZP7SHtDgncU</a:t>
            </a:r>
            <a:endParaRPr/>
          </a:p>
        </p:txBody>
      </p:sp>
      <p:sp>
        <p:nvSpPr>
          <p:cNvPr id="53" name="Google Shape;53;p2"/>
          <p:cNvSpPr txBox="1"/>
          <p:nvPr>
            <p:ph idx="12" type="sldNum"/>
          </p:nvPr>
        </p:nvSpPr>
        <p:spPr>
          <a:xfrm>
            <a:off x="8472458" y="4789959"/>
            <a:ext cx="548700" cy="316192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 fontScale="92500" lnSpcReduction="10000"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8108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00" name="Links" descr="QR codes for the source code, the live demo video and the Docker image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402336" y="2606040"/>
            <a:ext cx="8339328" cy="178955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h2296137532f5afa_0_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boto"/>
              <a:buNone/>
            </a:pPr>
            <a:r>
              <a:rPr lang="en"/>
              <a:t>Summary</a:t>
            </a:r>
            <a:endParaRPr/>
          </a:p>
        </p:txBody>
      </p:sp>
      <p:sp>
        <p:nvSpPr>
          <p:cNvPr id="59" name="Google Shape;59;h2296137532f5afa_0_0"/>
          <p:cNvSpPr txBox="1"/>
          <p:nvPr>
            <p:ph idx="1" type="body"/>
          </p:nvPr>
        </p:nvSpPr>
        <p:spPr>
          <a:xfrm>
            <a:off x="311700" y="1152475"/>
            <a:ext cx="8520600" cy="246888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  <a:buSzPts val="1400"/>
              <a:buChar char="●"/>
            </a:pPr>
            <a:r>
              <a:rPr lang="en" b="1"/>
              <a:t>What: </a:t>
            </a:r>
            <a:r>
              <a:rPr lang="en"/>
              <a:t>an agentic assistant for the HYPER-AI IDE. You chat; it inspects your workspace and acts through IDE actions (create / edit / delete files).</a:t>
            </a:r>
            <a:endParaRPr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  <a:buSzPts val="1400"/>
              <a:buChar char="●"/>
            </a:pPr>
            <a:r>
              <a:rPr lang="en" b="1"/>
              <a:t>Problem: </a:t>
            </a:r>
            <a:r>
              <a:rPr lang="en"/>
              <a:t>edge deployments fail on the basics: latest images, no limits or probes, root, secrets in config.</a:t>
            </a:r>
            <a:endParaRPr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  <a:buSzPts val="1400"/>
              <a:buChar char="●"/>
            </a:pPr>
            <a:r>
              <a:rPr lang="en" b="1"/>
              <a:t>Solution: </a:t>
            </a:r>
            <a:r>
              <a:rPr lang="en"/>
              <a:t>a deterministic Edge Readiness analyzer finds and scores issues; the LLM only converses.</a:t>
            </a:r>
            <a:endParaRPr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  <a:buSzPts val="1400"/>
              <a:buChar char="●"/>
            </a:pPr>
            <a:r>
              <a:rPr lang="en" b="1"/>
              <a:t>Loop: </a:t>
            </a:r>
            <a:r>
              <a:rPr lang="en"/>
              <a:t>inspect, plan, you approve, apply via the IDE, re-read: before vs after.</a:t>
            </a:r>
            <a:endParaRPr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  <a:buSzPts val="1400"/>
              <a:buChar char="●"/>
            </a:pPr>
            <a:r>
              <a:rPr lang="en" b="1"/>
              <a:t>Criteria: </a:t>
            </a:r>
            <a:r>
              <a:rPr lang="en"/>
              <a:t>guardrails, RAG on the official docs, memory, human-in-the-loop.</a:t>
            </a:r>
            <a:endParaRPr/>
          </a:p>
        </p:txBody>
      </p:sp>
      <p:sp>
        <p:nvSpPr>
          <p:cNvPr id="60" name="Google Shape;60;h2296137532f5afa_0_0"/>
          <p:cNvSpPr txBox="1"/>
          <p:nvPr>
            <p:ph idx="12" type="sldNum"/>
          </p:nvPr>
        </p:nvSpPr>
        <p:spPr>
          <a:xfrm>
            <a:off x="8472458" y="4789959"/>
            <a:ext cx="548700" cy="31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 lnSpcReduction="20000"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81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00" name="Graphic" descr="The Sentinel loop: inspect, analyze, plan, apply, verify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402336" y="3630168"/>
            <a:ext cx="8339328" cy="93951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h2296137532f5afa_0_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boto"/>
              <a:buNone/>
            </a:pPr>
            <a:r>
              <a:rPr lang="en"/>
              <a:t>Highlights</a:t>
            </a:r>
            <a:endParaRPr/>
          </a:p>
        </p:txBody>
      </p:sp>
      <p:sp>
        <p:nvSpPr>
          <p:cNvPr id="66" name="Google Shape;66;h2296137532f5afa_0_6"/>
          <p:cNvSpPr txBox="1"/>
          <p:nvPr>
            <p:ph idx="1" type="body"/>
          </p:nvPr>
        </p:nvSpPr>
        <p:spPr>
          <a:xfrm>
            <a:off x="311700" y="1152475"/>
            <a:ext cx="8520600" cy="246888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  <a:buSzPts val="1400"/>
              <a:buChar char="●"/>
            </a:pPr>
            <a:r>
              <a:rPr lang="en" b="1"/>
              <a:t>Verified live </a:t>
            </a:r>
            <a:r>
              <a:rPr lang="en"/>
              <a:t>in the real IDE with Llama 3.1: readiness 35 to 65, 12 findings fixed.</a:t>
            </a:r>
            <a:endParaRPr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  <a:buSzPts val="1400"/>
              <a:buChar char="●"/>
            </a:pPr>
            <a:r>
              <a:rPr lang="en" b="1"/>
              <a:t>Deterministic: </a:t>
            </a:r>
            <a:r>
              <a:rPr lang="en"/>
              <a:t>the LLM never sets scores or findings; secrets are never printed.</a:t>
            </a:r>
            <a:endParaRPr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  <a:buSzPts val="1400"/>
              <a:buChar char="●"/>
            </a:pPr>
            <a:r>
              <a:rPr lang="en" b="1"/>
              <a:t>Safe by design: </a:t>
            </a:r>
            <a:r>
              <a:rPr lang="en"/>
              <a:t>every delete, overwrite and plan needs an explicit yes; guardrails fail closed.</a:t>
            </a:r>
            <a:endParaRPr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  <a:buSzPts val="1400"/>
              <a:buChar char="●"/>
            </a:pPr>
            <a:r>
              <a:rPr lang="en" b="1"/>
              <a:t>Grounded + memory: </a:t>
            </a:r>
            <a:r>
              <a:rPr lang="en"/>
              <a:t>RAG with sources; per-user memory ("fix the second issue").</a:t>
            </a:r>
            <a:endParaRPr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  <a:buSzPts val="1400"/>
              <a:buChar char="●"/>
            </a:pPr>
            <a:r>
              <a:rPr lang="en" b="1"/>
              <a:t>Robust: </a:t>
            </a:r>
            <a:r>
              <a:rPr lang="en"/>
              <a:t>works without an IDE backend or API key; 200+ tests; non-root amd64 image.</a:t>
            </a:r>
            <a:endParaRPr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  <a:buSzPts val="1400"/>
              <a:buChar char="●"/>
            </a:pPr>
            <a:r>
              <a:rPr lang="en" b="1"/>
              <a:t>Open source </a:t>
            </a:r>
            <a:r>
              <a:rPr lang="en"/>
              <a:t>(Apache-2.0): GitHub, Docker Hub, 2-minute live demo video.</a:t>
            </a:r>
            <a:endParaRPr/>
          </a:p>
        </p:txBody>
      </p:sp>
      <p:sp>
        <p:nvSpPr>
          <p:cNvPr id="67" name="Google Shape;67;h2296137532f5afa_0_6"/>
          <p:cNvSpPr txBox="1"/>
          <p:nvPr>
            <p:ph idx="12" type="sldNum"/>
          </p:nvPr>
        </p:nvSpPr>
        <p:spPr>
          <a:xfrm>
            <a:off x="8472458" y="4789959"/>
            <a:ext cx="548700" cy="31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 lnSpcReduction="20000"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81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00" name="Graphic" descr="Results: edge readiness 35 to 65, 12 findings resolved, 0 changes without a yes, 200+ tests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402336" y="3630168"/>
            <a:ext cx="8339328" cy="93951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Anastasios Zafeiropoulos</dc:creator>
</cp:coreProperties>
</file>